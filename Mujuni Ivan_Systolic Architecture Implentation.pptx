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258" r:id="rId4"/>
    <p:sldId id="280" r:id="rId5"/>
    <p:sldId id="287" r:id="rId6"/>
    <p:sldId id="281" r:id="rId7"/>
    <p:sldId id="282" r:id="rId8"/>
    <p:sldId id="283" r:id="rId9"/>
    <p:sldId id="284" r:id="rId10"/>
    <p:sldId id="286" r:id="rId11"/>
    <p:sldId id="285" r:id="rId12"/>
    <p:sldId id="288" r:id="rId13"/>
    <p:sldId id="289" r:id="rId14"/>
    <p:sldId id="27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024G20022Mujuni Ivan" initials="2I" lastIdx="1" clrIdx="0">
    <p:extLst>
      <p:ext uri="{19B8F6BF-5375-455C-9EA6-DF929625EA0E}">
        <p15:presenceInfo xmlns:p15="http://schemas.microsoft.com/office/powerpoint/2012/main" userId="S::imujuni@office.jejunu.ac.kr::a3a561f1-e931-4835-bc7d-dcb1240dbf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5" autoAdjust="0"/>
    <p:restoredTop sz="94660"/>
  </p:normalViewPr>
  <p:slideViewPr>
    <p:cSldViewPr snapToGrid="0">
      <p:cViewPr>
        <p:scale>
          <a:sx n="125" d="100"/>
          <a:sy n="125" d="100"/>
        </p:scale>
        <p:origin x="208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27EC6-2571-47FA-B0BC-3782DCD91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8EA46-5F8A-45C2-B06D-1F758F5BFA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32eb6ed8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32eb6ed8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c1918183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c1918183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1AE6-80E7-4B1F-8AAF-50D14B06D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CACAA-27CE-4224-BC1D-C7F7C0905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7D14F-E53C-4889-A5A1-E1F8CAA8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EBC6B-E6E2-4061-81AD-76A3A15C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6678D-21F3-4DE8-AE78-093DB5BB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4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3671-4A5D-47D4-ADF5-1F40900D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372F-18E3-49D1-BE71-7D8A4F46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F6ED7-90DA-480A-AAF3-462FFC893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C9AE5-C31B-499E-8EB1-23F28D07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4535C-5542-4D90-A67E-0A826227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18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8B85-61AC-4B72-A658-7E982190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D371B-2601-4AFB-9934-BD6500ADB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C3562-FD77-4A37-8998-D8315C7AF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69CF7-DB93-43B5-A022-5377D34C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C3393-6CBC-4E22-9062-654DBF28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7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CB90-4AAE-4D43-B342-E7D839D18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3A43-57FD-4A5F-9012-A1D165C94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5CA3E-EFCC-486D-A977-6DF15C11B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32109-B4E2-4428-8CE7-6F0850B3D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6ED9D-6B1D-4F13-80CC-A00B7CBD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000BC-4381-4A3D-8373-596E3BB7F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54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F6C2-B16E-4884-85A3-2F8D49E6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8F9DD-E3E7-430D-9058-09CA697F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58F70-AF7D-427A-8CE7-FCFA6469D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D06F8-D643-4D27-A8D8-7A8D7846D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A013E-3B45-4112-9F4F-E0557BF42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F43526-70BD-4020-921A-D76EA03C7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73B11-A30D-49A6-A943-FD47CF63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BE556-290B-4AB5-A3B1-E7C13317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39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77D9-4419-434F-88A4-C7273D74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D47792-1D9E-48E5-AD07-D317E8D7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331F4-E4DD-4ECF-8B4A-BB21F292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F0379-AC91-498D-9631-C3820A49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4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597B1-8890-481D-BD92-4911850C5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AB5590-0592-4A10-B4C2-F5A89FF55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BB7A-E2BB-44B6-8601-602EC594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38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2DE2-8F8E-4A82-B7CE-B28FE6059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DDE69-84CA-4322-8328-537DACBCC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7D056-0E7D-4B46-8A32-1A60E1DAA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047EA-A05B-414A-9E89-017CC05B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D0C7B-AD06-46B7-AE35-3356141D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8D185-B434-4388-86FF-5C084C97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386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4510-4958-427E-A70D-43B77A61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531DC-CF81-4349-83D1-554A1B0EC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17916-B54D-443C-848E-C8F8126A2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EB93E-7AAB-4344-8B44-3FB30EFA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C7875-5727-4839-84B1-773D1A5C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E6E41-ADD5-4DC3-9BC5-37B03942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51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2D73-371C-41D5-BC02-D1B4C467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7DC01-8F88-4903-9E71-3EF6C0AD3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6F42F-E2B1-406F-B8E5-B6E621A2C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2F582-A5D1-4680-8998-66E5A34B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2E26E-573D-4219-90D7-E40F92EB5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74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13D63-6881-4267-A6F4-F3FB7429F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3FC8C-C010-40EB-8C91-1E662B3FA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97B2E-82BF-4A3D-83AD-4D43A7D9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1025-3D6A-43E6-BA7E-098D4E75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64312-6ABD-434B-B428-00ACB9D2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546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1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5813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50917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0" name="Google Shape;70;p1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28818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8" name="Google Shape;78;p17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58046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7" name="Google Shape;87;p18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9905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4" name="Google Shape;94;p19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68467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99028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15117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9824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2" name="Google Shape;122;p23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78265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6335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A50F3-0ACC-4F10-B9E2-EC6303C41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43371-2BD2-4E99-B374-625A93918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EA2DB-D07F-447A-B4D7-85AE81A8F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00161-7F99-4FA1-9CF7-AAFF461F6F6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F5638-7C95-420A-9DFD-44CC76AC8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F4E58-0936-405A-9BD3-F397FAF0F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C3374-8454-4126-ADB7-03501FB52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08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946326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/>
          <p:cNvSpPr txBox="1">
            <a:spLocks noGrp="1"/>
          </p:cNvSpPr>
          <p:nvPr>
            <p:ph type="title" idx="4294967295"/>
          </p:nvPr>
        </p:nvSpPr>
        <p:spPr>
          <a:xfrm>
            <a:off x="450937" y="3372162"/>
            <a:ext cx="11406882" cy="10996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>
              <a:spcBef>
                <a:spcPts val="0"/>
              </a:spcBef>
            </a:pPr>
            <a:r>
              <a:rPr lang="en-US" dirty="0"/>
              <a:t>SYSTOLIC ARCHITECTURE IMPLEMENTATION</a:t>
            </a:r>
            <a:br>
              <a:rPr lang="en-US" dirty="0"/>
            </a:br>
            <a:br>
              <a:rPr lang="en-US" dirty="0"/>
            </a:br>
            <a:endParaRPr dirty="0"/>
          </a:p>
          <a:p>
            <a:pPr>
              <a:spcBef>
                <a:spcPts val="0"/>
              </a:spcBef>
            </a:pPr>
            <a:endParaRPr dirty="0"/>
          </a:p>
        </p:txBody>
      </p:sp>
      <p:pic>
        <p:nvPicPr>
          <p:cNvPr id="332" name="Google Shape;3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035" y="417882"/>
            <a:ext cx="2870200" cy="28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5"/>
          <p:cNvSpPr txBox="1"/>
          <p:nvPr/>
        </p:nvSpPr>
        <p:spPr>
          <a:xfrm>
            <a:off x="8148181" y="5588782"/>
            <a:ext cx="3943982" cy="999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00" dirty="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Mujuni Ivan.</a:t>
            </a:r>
          </a:p>
          <a:p>
            <a:r>
              <a:rPr lang="en" sz="1400" dirty="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Jeju National University. </a:t>
            </a:r>
          </a:p>
          <a:p>
            <a:r>
              <a:rPr lang="en" sz="1400" dirty="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AM202526001</a:t>
            </a:r>
          </a:p>
          <a:p>
            <a:r>
              <a:rPr lang="en-US" sz="1000" dirty="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November 28, 2025</a:t>
            </a:r>
            <a:endParaRPr sz="1000" dirty="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A84F8-7CE4-431B-BE0C-87FB76C9A600}"/>
              </a:ext>
            </a:extLst>
          </p:cNvPr>
          <p:cNvSpPr txBox="1"/>
          <p:nvPr/>
        </p:nvSpPr>
        <p:spPr>
          <a:xfrm>
            <a:off x="3075140" y="3244334"/>
            <a:ext cx="6150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effectLst/>
              </a:rPr>
              <a:t> 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BC6A4-8DF5-4EBA-B024-295DF9E2F1E2}"/>
              </a:ext>
            </a:extLst>
          </p:cNvPr>
          <p:cNvSpPr txBox="1"/>
          <p:nvPr/>
        </p:nvSpPr>
        <p:spPr>
          <a:xfrm>
            <a:off x="3075140" y="3244334"/>
            <a:ext cx="6150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effectLst/>
              </a:rPr>
              <a:t> 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D8B02-C99A-4D02-ABC6-C079C18BB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50" y="4409795"/>
            <a:ext cx="2573221" cy="16789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EF5BCC-FDDD-406B-B42A-46F9B69732A1}"/>
              </a:ext>
            </a:extLst>
          </p:cNvPr>
          <p:cNvSpPr txBox="1"/>
          <p:nvPr/>
        </p:nvSpPr>
        <p:spPr>
          <a:xfrm>
            <a:off x="369518" y="6043808"/>
            <a:ext cx="435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EMBEDDED SYSTEMS LAB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>
                <a:solidFill>
                  <a:schemeClr val="tx1"/>
                </a:solidFill>
              </a:rPr>
              <a:t>Systolic Architecture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C5EB3-AE96-4105-A287-99382A68F59D}"/>
              </a:ext>
            </a:extLst>
          </p:cNvPr>
          <p:cNvSpPr txBox="1"/>
          <p:nvPr/>
        </p:nvSpPr>
        <p:spPr>
          <a:xfrm>
            <a:off x="582460" y="2471800"/>
            <a:ext cx="112671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a systolic system, data flows from the computer memory to the many processing elements in a rhythmic fashion before it returns to the memory. </a:t>
            </a:r>
          </a:p>
          <a:p>
            <a:endParaRPr lang="en-US" altLang="ko-KR" sz="1400" dirty="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H. T. Kung likens it to blood circulating to and from the heart. </a:t>
            </a:r>
          </a:p>
          <a:p>
            <a:endParaRPr lang="en-US" altLang="ko-KR" sz="1400" dirty="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systolic system works like an assembly line where different people work on the same car at different times and many cars are assembled simultaneously</a:t>
            </a:r>
            <a:r>
              <a:rPr lang="en-US" altLang="ko-KR" dirty="0">
                <a:solidFill>
                  <a:schemeClr val="bg2"/>
                </a:solidFill>
              </a:rPr>
              <a:t>. </a:t>
            </a:r>
            <a:endParaRPr lang="ko-KR" altLang="en-US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DD9A28-1923-43F6-B09E-78E6B69FB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13" y="4560388"/>
            <a:ext cx="3086261" cy="20786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FAF7-FD1D-4381-9F51-98FD6959B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 x N Matrix for N = 4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AB6107-86BA-4C48-A960-A6ECADFE4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66" y="2924712"/>
            <a:ext cx="7215678" cy="1202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DE9FC5-DB32-4480-AA2A-24A006C2C3C3}"/>
              </a:ext>
            </a:extLst>
          </p:cNvPr>
          <p:cNvSpPr txBox="1"/>
          <p:nvPr/>
        </p:nvSpPr>
        <p:spPr>
          <a:xfrm>
            <a:off x="6926893" y="2924712"/>
            <a:ext cx="42240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 declare the N = 4 as shown.</a:t>
            </a:r>
          </a:p>
          <a:p>
            <a:endParaRPr lang="en-US" altLang="ko-KR" dirty="0"/>
          </a:p>
          <a:p>
            <a:r>
              <a:rPr lang="en-US" altLang="ko-KR" dirty="0"/>
              <a:t>We also declare the Data Width of each of the Matrix elements and the Accumulator Width.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13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B51E-9201-400F-A2BD-7BDE924C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Inputs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B1E1E-75AA-44E7-A458-16AE1CDE6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952" y="2828809"/>
            <a:ext cx="4058216" cy="1689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8F5BDA-FBF2-4825-9197-C55101AB0677}"/>
              </a:ext>
            </a:extLst>
          </p:cNvPr>
          <p:cNvSpPr txBox="1"/>
          <p:nvPr/>
        </p:nvSpPr>
        <p:spPr>
          <a:xfrm>
            <a:off x="6634834" y="2749004"/>
            <a:ext cx="4945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chemeClr val="bg2"/>
                </a:solidFill>
              </a:rPr>
              <a:t>a_in</a:t>
            </a:r>
            <a:r>
              <a:rPr lang="en-US" altLang="ko-KR" dirty="0">
                <a:solidFill>
                  <a:schemeClr val="bg2"/>
                </a:solidFill>
              </a:rPr>
              <a:t> and </a:t>
            </a:r>
            <a:r>
              <a:rPr lang="en-US" altLang="ko-KR" dirty="0" err="1">
                <a:solidFill>
                  <a:schemeClr val="bg2"/>
                </a:solidFill>
              </a:rPr>
              <a:t>b_in</a:t>
            </a:r>
            <a:r>
              <a:rPr lang="en-US" altLang="ko-KR" dirty="0">
                <a:solidFill>
                  <a:schemeClr val="bg2"/>
                </a:solidFill>
              </a:rPr>
              <a:t> are the input vectors</a:t>
            </a:r>
          </a:p>
          <a:p>
            <a:endParaRPr lang="en-US" altLang="ko-KR" dirty="0">
              <a:solidFill>
                <a:schemeClr val="bg2"/>
              </a:solidFill>
            </a:endParaRPr>
          </a:p>
          <a:p>
            <a:r>
              <a:rPr lang="en-US" altLang="ko-KR" dirty="0" err="1">
                <a:solidFill>
                  <a:schemeClr val="bg2"/>
                </a:solidFill>
              </a:rPr>
              <a:t>a_in_vec</a:t>
            </a:r>
            <a:r>
              <a:rPr lang="en-US" altLang="ko-KR" dirty="0">
                <a:solidFill>
                  <a:schemeClr val="bg2"/>
                </a:solidFill>
              </a:rPr>
              <a:t> and </a:t>
            </a:r>
            <a:r>
              <a:rPr lang="en-US" altLang="ko-KR" dirty="0" err="1">
                <a:solidFill>
                  <a:schemeClr val="bg2"/>
                </a:solidFill>
              </a:rPr>
              <a:t>b_in_vec</a:t>
            </a:r>
            <a:r>
              <a:rPr lang="en-US" altLang="ko-KR" dirty="0">
                <a:solidFill>
                  <a:schemeClr val="bg2"/>
                </a:solidFill>
              </a:rPr>
              <a:t> are the wires that move the inputs from one PE to the next. </a:t>
            </a:r>
            <a:endParaRPr lang="ko-KR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81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D2EA-59B1-43A5-8D5F-B74F1BEE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Processing Elements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33AB4-66E1-4B83-BDB8-556DC0AA4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600" y="2771833"/>
            <a:ext cx="6179762" cy="3014800"/>
          </a:xfrm>
        </p:spPr>
        <p:txBody>
          <a:bodyPr/>
          <a:lstStyle/>
          <a:p>
            <a:r>
              <a:rPr lang="en-US" altLang="ko-KR" dirty="0"/>
              <a:t>Being a </a:t>
            </a:r>
            <a:r>
              <a:rPr lang="en-US" altLang="ko-KR" b="1" dirty="0"/>
              <a:t>2D</a:t>
            </a:r>
            <a:r>
              <a:rPr lang="en-US" altLang="ko-KR" dirty="0"/>
              <a:t> </a:t>
            </a:r>
            <a:r>
              <a:rPr lang="en-US" altLang="ko-KR" dirty="0" err="1"/>
              <a:t>NxN</a:t>
            </a:r>
            <a:r>
              <a:rPr lang="en-US" altLang="ko-KR" dirty="0"/>
              <a:t> matrix, the Systolic System uses </a:t>
            </a:r>
            <a:r>
              <a:rPr lang="en-US" altLang="ko-KR" dirty="0" err="1"/>
              <a:t>NxN</a:t>
            </a:r>
            <a:r>
              <a:rPr lang="en-US" altLang="ko-KR" dirty="0"/>
              <a:t> PES. </a:t>
            </a:r>
          </a:p>
          <a:p>
            <a:pPr lvl="1"/>
            <a:r>
              <a:rPr lang="en-US" altLang="ko-KR" sz="1300" dirty="0"/>
              <a:t>Each of these PEs carries out a single accumulation entry and this lets the </a:t>
            </a:r>
            <a:r>
              <a:rPr lang="en-US" altLang="ko-KR" sz="1300" dirty="0" err="1"/>
              <a:t>NxN</a:t>
            </a:r>
            <a:r>
              <a:rPr lang="en-US" altLang="ko-KR" sz="1300" dirty="0"/>
              <a:t> accumulations proceed in Parallel.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In Commercial Designs, the array sizes are often fixed to 16x16 or 32x32 and Tiling is used to fit the Matrix Dimensions onto the Systolic Architectures.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64A804-4CD6-4246-8C87-CC8CBCCA1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993" y="2743104"/>
            <a:ext cx="4822958" cy="145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3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7AD6-F0D6-4DFD-BFD1-4DB307C1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600" y="1739412"/>
            <a:ext cx="10251600" cy="713600"/>
          </a:xfrm>
        </p:spPr>
        <p:txBody>
          <a:bodyPr/>
          <a:lstStyle/>
          <a:p>
            <a:r>
              <a:rPr lang="en-US" altLang="ko-KR" dirty="0"/>
              <a:t>Moving the Inputs into the PEs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FFEC4-A08B-4EA6-A0B5-C6995A627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600" y="2771833"/>
            <a:ext cx="5359307" cy="3014800"/>
          </a:xfrm>
        </p:spPr>
        <p:txBody>
          <a:bodyPr/>
          <a:lstStyle/>
          <a:p>
            <a:r>
              <a:rPr lang="en-US" altLang="ko-KR" dirty="0"/>
              <a:t>We begin with PE(0,0). The PE at the top Left corner. </a:t>
            </a:r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0D73A6-436B-4641-BF98-CA08D63AC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15" y="3436153"/>
            <a:ext cx="5296639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2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FA94-2769-4722-A707-53807E01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Moving the Inputs into the PEs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7FB2F-AEDA-4263-BB4C-8174E54A1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After PE(0,0) has received inputs, then the systolic movement of inputs into the other PEs begins. </a:t>
            </a:r>
          </a:p>
          <a:p>
            <a:r>
              <a:rPr lang="en-US" altLang="ko-KR" dirty="0"/>
              <a:t>The elements are moved from the left to the right and from the top to bottom while partial results are moved diagonally. </a:t>
            </a:r>
          </a:p>
          <a:p>
            <a:pPr marL="194729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5FCBA-05BB-48D7-87A1-017AFE08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975" y="3692282"/>
            <a:ext cx="4105848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69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60E4-2EE8-4FEF-BDFC-E41B3655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Multiply and Accumulate (MAC)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DAAE9-F1F9-49AD-AE69-1EC7263AB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600" y="2771833"/>
            <a:ext cx="4151850" cy="2644717"/>
          </a:xfrm>
        </p:spPr>
        <p:txBody>
          <a:bodyPr/>
          <a:lstStyle/>
          <a:p>
            <a:r>
              <a:rPr lang="en-US" altLang="ko-KR" dirty="0"/>
              <a:t>The Systolic Multiplier computes the Matrix by doing Multiply and Accumulate.</a:t>
            </a:r>
            <a:br>
              <a:rPr lang="en-US" altLang="ko-KR" dirty="0"/>
            </a:br>
            <a:r>
              <a:rPr lang="en-US" altLang="ko-KR" dirty="0"/>
              <a:t>It multiples the new inputs and accumulates their Product to the previously held value, then sends the result to the next PE.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9B87E-C199-4C12-B6A6-2614DC5A8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65" y="4386201"/>
            <a:ext cx="4620270" cy="1086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444D35-9433-44C7-9836-5C5FB4A8768B}"/>
              </a:ext>
            </a:extLst>
          </p:cNvPr>
          <p:cNvSpPr txBox="1"/>
          <p:nvPr/>
        </p:nvSpPr>
        <p:spPr>
          <a:xfrm>
            <a:off x="5956300" y="3022600"/>
            <a:ext cx="4781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2"/>
                </a:solidFill>
              </a:rPr>
              <a:t>Therefore </a:t>
            </a:r>
            <a:r>
              <a:rPr lang="en-US" altLang="ko-KR" dirty="0" err="1">
                <a:solidFill>
                  <a:schemeClr val="bg2"/>
                </a:solidFill>
              </a:rPr>
              <a:t>C_pe</a:t>
            </a:r>
            <a:r>
              <a:rPr lang="en-US" altLang="ko-KR" dirty="0">
                <a:solidFill>
                  <a:schemeClr val="bg2"/>
                </a:solidFill>
              </a:rPr>
              <a:t> – The PE that holds the result – holds the sum of the previous product and the new Product. </a:t>
            </a:r>
            <a:endParaRPr lang="ko-KR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436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FD9D0-4421-4831-A324-E9EC27FA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Reading the Result from the boundary PEs.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732E9-3837-4AC4-A0D8-452AA661F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94" y="2393647"/>
            <a:ext cx="3839111" cy="4344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5DB6A8-023B-4742-9CF9-EC8E7C1A1890}"/>
              </a:ext>
            </a:extLst>
          </p:cNvPr>
          <p:cNvSpPr txBox="1"/>
          <p:nvPr/>
        </p:nvSpPr>
        <p:spPr>
          <a:xfrm>
            <a:off x="5187950" y="2471800"/>
            <a:ext cx="6184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2"/>
                </a:solidFill>
              </a:rPr>
              <a:t>The results are read from </a:t>
            </a:r>
            <a:r>
              <a:rPr lang="en-US" altLang="ko-KR" dirty="0" err="1">
                <a:solidFill>
                  <a:schemeClr val="bg2"/>
                </a:solidFill>
              </a:rPr>
              <a:t>C_out</a:t>
            </a:r>
            <a:r>
              <a:rPr lang="en-US" altLang="ko-KR" dirty="0">
                <a:solidFill>
                  <a:schemeClr val="bg2"/>
                </a:solidFill>
              </a:rPr>
              <a:t> at the end of 2N-2 cycles. </a:t>
            </a:r>
          </a:p>
          <a:p>
            <a:endParaRPr lang="en-US" altLang="ko-KR" dirty="0">
              <a:solidFill>
                <a:schemeClr val="bg2"/>
              </a:solidFill>
            </a:endParaRPr>
          </a:p>
          <a:p>
            <a:r>
              <a:rPr lang="en-US" altLang="ko-KR" dirty="0">
                <a:solidFill>
                  <a:schemeClr val="bg2"/>
                </a:solidFill>
              </a:rPr>
              <a:t>2N-2 is the number of cycles it takes to fully compute an </a:t>
            </a:r>
            <a:r>
              <a:rPr lang="en-US" altLang="ko-KR" dirty="0" err="1">
                <a:solidFill>
                  <a:schemeClr val="bg2"/>
                </a:solidFill>
              </a:rPr>
              <a:t>NxN</a:t>
            </a:r>
            <a:r>
              <a:rPr lang="en-US" altLang="ko-KR" dirty="0">
                <a:solidFill>
                  <a:schemeClr val="bg2"/>
                </a:solidFill>
              </a:rPr>
              <a:t> Matrix </a:t>
            </a:r>
            <a:r>
              <a:rPr lang="en-US" altLang="ko-KR" dirty="0" err="1">
                <a:solidFill>
                  <a:schemeClr val="bg2"/>
                </a:solidFill>
              </a:rPr>
              <a:t>Systolically</a:t>
            </a:r>
            <a:r>
              <a:rPr lang="en-US" altLang="ko-KR" dirty="0">
                <a:solidFill>
                  <a:schemeClr val="bg2"/>
                </a:solidFill>
              </a:rPr>
              <a:t>. </a:t>
            </a:r>
            <a:endParaRPr lang="ko-KR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64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367E-2D2F-4F7F-8FA7-09419F8D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Compilation</a:t>
            </a:r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8EBCA-EC06-4068-87B1-60D49A645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80" y="2606040"/>
            <a:ext cx="4687347" cy="2103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A25A35-93B4-4D7C-99E5-D952A8AD3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960" y="2606040"/>
            <a:ext cx="6096000" cy="724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03AEFA-0CBD-47A2-9C99-F9647AF26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614" y="3493597"/>
            <a:ext cx="3810532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9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A033-AEA8-40D8-846C-368EFE4B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Simulation</a:t>
            </a:r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601A24-31E9-4E1C-AB02-891AD7888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720658"/>
            <a:ext cx="8770839" cy="16655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166194-B724-443B-BFC3-5222C572E0AD}"/>
              </a:ext>
            </a:extLst>
          </p:cNvPr>
          <p:cNvSpPr txBox="1"/>
          <p:nvPr/>
        </p:nvSpPr>
        <p:spPr>
          <a:xfrm>
            <a:off x="1082040" y="4899660"/>
            <a:ext cx="944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2"/>
                </a:solidFill>
              </a:rPr>
              <a:t>Expected results and wave-form </a:t>
            </a:r>
            <a:endParaRPr lang="ko-KR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253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1298-3F44-4CFF-8D57-F76B668F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Improvements / Future work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9C13E-5041-43FC-8A60-12B0EBA44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Implement on a DE2-115 Board. </a:t>
            </a:r>
          </a:p>
          <a:p>
            <a:endParaRPr lang="en-US" altLang="ko-KR" dirty="0"/>
          </a:p>
          <a:p>
            <a:r>
              <a:rPr lang="en-US" altLang="ko-KR" dirty="0"/>
              <a:t>Generate inputs automatically and not from the Test Bench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049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9D40-F405-4CA6-88A1-1D01B88D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600" y="1758199"/>
            <a:ext cx="10251600" cy="3089373"/>
          </a:xfrm>
        </p:spPr>
        <p:txBody>
          <a:bodyPr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THANK YOU!</a:t>
            </a:r>
            <a:br>
              <a:rPr lang="en-US" altLang="ko-KR" dirty="0">
                <a:solidFill>
                  <a:schemeClr val="tx1"/>
                </a:solidFill>
              </a:rPr>
            </a:b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감사합니다 </a:t>
            </a:r>
          </a:p>
        </p:txBody>
      </p:sp>
    </p:spTree>
    <p:extLst>
      <p:ext uri="{BB962C8B-B14F-4D97-AF65-F5344CB8AC3E}">
        <p14:creationId xmlns:p14="http://schemas.microsoft.com/office/powerpoint/2010/main" val="4019847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</TotalTime>
  <Words>436</Words>
  <Application>Microsoft Office PowerPoint</Application>
  <PresentationFormat>Widescreen</PresentationFormat>
  <Paragraphs>49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맑은 고딕</vt:lpstr>
      <vt:lpstr>Arial</vt:lpstr>
      <vt:lpstr>Lato</vt:lpstr>
      <vt:lpstr>Nunito</vt:lpstr>
      <vt:lpstr>Raleway</vt:lpstr>
      <vt:lpstr>Office Theme</vt:lpstr>
      <vt:lpstr>Streamline</vt:lpstr>
      <vt:lpstr>SYSTOLIC ARCHITECTURE IMPLEMENTATION   </vt:lpstr>
      <vt:lpstr>Systolic Architecture</vt:lpstr>
      <vt:lpstr>N x N Matrix for N = 4</vt:lpstr>
      <vt:lpstr>Inputs</vt:lpstr>
      <vt:lpstr>Processing Elements</vt:lpstr>
      <vt:lpstr>Moving the Inputs into the PEs</vt:lpstr>
      <vt:lpstr>Moving the Inputs into the PEs</vt:lpstr>
      <vt:lpstr>Multiply and Accumulate (MAC)</vt:lpstr>
      <vt:lpstr>Reading the Result from the boundary PEs.</vt:lpstr>
      <vt:lpstr>Compilation</vt:lpstr>
      <vt:lpstr>Simulation</vt:lpstr>
      <vt:lpstr>Improvements / Future work</vt:lpstr>
      <vt:lpstr>THANK YOU!  감사합니다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DRAM   </dc:title>
  <dc:creator>2024G20022Mujuni Ivan</dc:creator>
  <cp:lastModifiedBy>2024G20022Mujuni Ivan</cp:lastModifiedBy>
  <cp:revision>199</cp:revision>
  <dcterms:created xsi:type="dcterms:W3CDTF">2025-10-13T12:03:46Z</dcterms:created>
  <dcterms:modified xsi:type="dcterms:W3CDTF">2025-11-28T06:44:16Z</dcterms:modified>
</cp:coreProperties>
</file>